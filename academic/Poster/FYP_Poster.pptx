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9696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96960" cy="3026664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20482560" cy="109728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ki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60" y="50292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0"/>
            <a:ext cx="19019520" cy="548640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E1A47"/>
                </a:solidFill>
                <a:latin typeface="Segoe UI Semibold"/>
              </a:rPr>
              <a:t>GHULAM ISHAQ KHAN INSTITUTE OF ENGINEERING SCIENCES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190195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B4E8C"/>
                </a:solidFill>
                <a:latin typeface="Segoe UI Semibold"/>
              </a:rPr>
              <a:t>FACULTY OF ELECTRICAL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0482560" cy="1463040"/>
          </a:xfrm>
          <a:prstGeom prst="roundRect">
            <a:avLst>
              <a:gd name="adj" fmla="val 2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048256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Segoe UI Black"/>
              </a:rPr>
              <a:t>SMART ATTENDANCE SYSTEM</a:t>
            </a:r>
          </a:p>
          <a:p>
            <a:pPr algn="ctr"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Segoe UI Black"/>
              </a:rPr>
              <a:t>USING FACIAL IMAGE 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37560"/>
            <a:ext cx="860267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337560"/>
            <a:ext cx="860267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ABSTRACT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13632"/>
            <a:ext cx="8602675" cy="59783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50792"/>
            <a:ext cx="8054035" cy="570402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300" b="0" i="0">
                <a:solidFill>
                  <a:srgbClr val="1E1E2E"/>
                </a:solidFill>
                <a:latin typeface="Segoe UI"/>
              </a:rPr>
              <a:t>This project replaces manual classroom attendance with a single classroom photograph. A teacher uploads the image via a web dashboard; the system detects every face using MTCNN with a RetinaFace fallback, filters low-quality crops, embeds each face with FaceNet (512-d) followed by a learned 128-d projection head, and matches the embeddings against an enrollment store using minimum L2 distance with an SVM confirmation layer. The pipeline reaches 86% recognition on unseen classroom photos while processing each image in 1–5 seconds on commodity hardware.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195" y="3337560"/>
            <a:ext cx="1160556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34195" y="3337560"/>
            <a:ext cx="1160556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RECOGNITION PIPELINE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4195" y="3913632"/>
            <a:ext cx="11605565" cy="597834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075" y="5293061"/>
            <a:ext cx="11239805" cy="321948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57200" y="10120579"/>
            <a:ext cx="860267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0120579"/>
            <a:ext cx="860267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OBJECTIVES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0696651"/>
            <a:ext cx="8602675" cy="38715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0833811"/>
            <a:ext cx="8054035" cy="359724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Eliminate roll call from classroom lectures.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Reduce proxy / fraudulent attendance.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Deliver auditable attendance records.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Run on-premises with zero recurring cost.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Preserve student privacy — no raw photos stored.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4195" y="10120579"/>
            <a:ext cx="1160556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4195" y="10120579"/>
            <a:ext cx="1160556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APPLICATIONS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195" y="10696651"/>
            <a:ext cx="11605565" cy="38715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8515" y="10833811"/>
            <a:ext cx="11056925" cy="359724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University lectures &amp; tutorials.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Examination hall attendance &amp; identity verification.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Event / workshop registration checks.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Seminar &amp; guest-lecture tracking.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1E1E2E"/>
                </a:solidFill>
                <a:latin typeface="Segoe UI"/>
              </a:rPr>
              <a:t>▸ Faculty-level analytics on absenteeism trends.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14796820"/>
            <a:ext cx="860267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14796820"/>
            <a:ext cx="860267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KEY TOOLS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5372892"/>
            <a:ext cx="8602675" cy="527608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15510052"/>
            <a:ext cx="8054035" cy="50017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Python 3 — FastAPI, TensorFlow, OpenCV, scikit-learn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FaceNet (keras_facenet), MTCNN, RetinaFace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Custom projection head (triplet loss, 128-d)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Node.js + Express + TypeScript + Prisma ORM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React 18 + Vite + TypeScript (frontend)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SQLite (development), PostgreSQL-ready (production)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1E1E2E"/>
                </a:solidFill>
                <a:latin typeface="Segoe UI"/>
              </a:rPr>
              <a:t>▸ Nginx + Let's Encrypt + systemd (deployment)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4195" y="14796820"/>
            <a:ext cx="1160556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34195" y="14796820"/>
            <a:ext cx="1160556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RESULTS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195" y="15372892"/>
            <a:ext cx="11605565" cy="2901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5635" y="15464332"/>
            <a:ext cx="5711342" cy="883664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86%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5635" y="16280022"/>
            <a:ext cx="5711342" cy="54379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Recognition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136977" y="15464332"/>
            <a:ext cx="5711342" cy="883664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243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136977" y="16280022"/>
            <a:ext cx="5711342" cy="54379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Faces evaluated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5635" y="16823816"/>
            <a:ext cx="5711342" cy="883664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113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5635" y="17639506"/>
            <a:ext cx="5711342" cy="54379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Students enrolled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136977" y="16823816"/>
            <a:ext cx="5711342" cy="883664"/>
          </a:xfrm>
          <a:prstGeom prst="rect">
            <a:avLst/>
          </a:prstGeom>
          <a:noFill/>
        </p:spPr>
        <p:txBody>
          <a:bodyPr wrap="square" lIns="45720" rIns="45720" tIns="18288" bIns="18288" anchor="b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4A261"/>
                </a:solidFill>
                <a:latin typeface="Cascadia Mono Semibold"/>
              </a:rPr>
              <a:t>1–5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36977" y="17639506"/>
            <a:ext cx="5711342" cy="54379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E1A47"/>
                </a:solidFill>
                <a:latin typeface="Segoe UI Semibold"/>
              </a:rPr>
              <a:t>Per-photo latency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34195" y="18384468"/>
            <a:ext cx="11605565" cy="226451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2795" y="18494196"/>
            <a:ext cx="11148365" cy="20450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sz="1100" b="0" i="0">
                <a:solidFill>
                  <a:srgbClr val="1E1E2E"/>
                </a:solidFill>
                <a:latin typeface="Segoe UI"/>
              </a:rPr>
              <a:t>Evaluated on 14 unseen classroom photographs drawn from the 2022 and 2023 batches. Nine of fourteen photos reached 100% recognition; remaining errors cluster on small / pose-extreme faces in dense groups, which the teacher-review UI flags for manual approval.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0877580"/>
            <a:ext cx="860267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0877580"/>
            <a:ext cx="860267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SYSTEM ARCHITECTURE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21453652"/>
            <a:ext cx="8602675" cy="59783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fig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987151"/>
            <a:ext cx="8236915" cy="4911349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9334195" y="20877580"/>
            <a:ext cx="11605565" cy="502920"/>
          </a:xfrm>
          <a:prstGeom prst="roundRect">
            <a:avLst>
              <a:gd name="adj" fmla="val 18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34195" y="20877580"/>
            <a:ext cx="11605565" cy="502920"/>
          </a:xfrm>
          <a:prstGeom prst="rect">
            <a:avLst/>
          </a:prstGeom>
          <a:noFill/>
        </p:spPr>
        <p:txBody>
          <a:bodyPr wrap="none" lIns="73152" rIns="73152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 Semibold"/>
              </a:rPr>
              <a:t>  CONCLUSION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34195" y="21453652"/>
            <a:ext cx="11605565" cy="59783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8515" y="21636532"/>
            <a:ext cx="11056925" cy="56125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just">
              <a:lnSpc>
                <a:spcPct val="135000"/>
              </a:lnSpc>
            </a:pPr>
            <a:r>
              <a:rPr sz="1300" b="0" i="0">
                <a:solidFill>
                  <a:srgbClr val="1E1E2E"/>
                </a:solidFill>
                <a:latin typeface="Segoe UI"/>
              </a:rPr>
              <a:t>The Smart Attendance System demonstrates that a single classroom photograph, processed by an on-premises deep-learning pipeline, is a practical replacement for manual roll call. The design is privacy-respecting (no raw images stored), cost-free to operate (open-source stack on a free-tier VM), and ships with a teacher-review step that guards against residual recognition errors.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27569160"/>
            <a:ext cx="20482560" cy="502920"/>
          </a:xfrm>
          <a:prstGeom prst="roundRect">
            <a:avLst>
              <a:gd name="adj" fmla="val 2000"/>
            </a:avLst>
          </a:prstGeom>
          <a:solidFill>
            <a:srgbClr val="86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27569160"/>
            <a:ext cx="204825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Built at GIK Institute  •  Faculty of Electrical Engineering  •  Senior Design Project 2025-26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28254960"/>
            <a:ext cx="12289536" cy="1554480"/>
          </a:xfrm>
          <a:prstGeom prst="roundRect">
            <a:avLst>
              <a:gd name="adj" fmla="val 2000"/>
            </a:avLst>
          </a:prstGeom>
          <a:solidFill>
            <a:srgbClr val="2E1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28346400"/>
            <a:ext cx="1192377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4A261"/>
                </a:solidFill>
                <a:latin typeface="Segoe UI Semibold"/>
              </a:rPr>
              <a:t>GROUP MEMBERS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28757880"/>
            <a:ext cx="5961888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Hassaan Ahmed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28986480"/>
            <a:ext cx="5961888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FCSE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01968" y="28757880"/>
            <a:ext cx="5961888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Osaid Khan Afridi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28986480"/>
            <a:ext cx="5961888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FCSE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29215080"/>
            <a:ext cx="5961888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Saad Khan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29443680"/>
            <a:ext cx="5961888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FEE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1968" y="29215080"/>
            <a:ext cx="5961888" cy="203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Najaf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01968" y="29443680"/>
            <a:ext cx="5961888" cy="152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6A88E"/>
                </a:solidFill>
                <a:latin typeface="Segoe UI"/>
              </a:rPr>
              <a:t>FEE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883896" y="28254960"/>
            <a:ext cx="8055864" cy="1554480"/>
          </a:xfrm>
          <a:prstGeom prst="roundRect">
            <a:avLst>
              <a:gd name="adj" fmla="val 2000"/>
            </a:avLst>
          </a:prstGeom>
          <a:solidFill>
            <a:srgbClr val="6B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066776" y="28346400"/>
            <a:ext cx="7690104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A261"/>
                </a:solidFill>
                <a:latin typeface="Segoe UI Semibold"/>
              </a:rPr>
              <a:t>ADVISOR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066776" y="28620720"/>
            <a:ext cx="7690104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Dr. Zaiwar Ali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66776" y="29077920"/>
            <a:ext cx="7690104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4A261"/>
                </a:solidFill>
                <a:latin typeface="Segoe UI Semibold"/>
              </a:rPr>
              <a:t>CO-ADVISOR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066776" y="29352240"/>
            <a:ext cx="7690104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 Semibold"/>
              </a:rPr>
              <a:t>Dr. Arbab Abdur Rahim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